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420840"/>
            <a:ext cx="9071280" cy="55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83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83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83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83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83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83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83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83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83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83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83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83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83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83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83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83000"/>
              </a:lnSpc>
              <a:buNone/>
              <a:tabLst>
                <a:tab pos="0" algn="l"/>
              </a:tabLst>
            </a:pPr>
            <a:fld id="{C53AFBFA-81F8-4429-B7DF-69E440B319A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420840"/>
            <a:ext cx="9071280" cy="55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83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83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83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83000"/>
              </a:lnSpc>
              <a:buNone/>
              <a:tabLst>
                <a:tab pos="0" algn="l"/>
              </a:tabLst>
            </a:pPr>
            <a:fld id="{B0AAC3CE-35B9-446D-8D7E-02311443CCE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2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2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2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2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2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2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2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lnSpc>
                <a:spcPct val="102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2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2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2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2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2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2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https://github.com/GidRadium/reversi-admin-panel" TargetMode="External"/><Relationship Id="rId2" Type="http://schemas.openxmlformats.org/officeDocument/2006/relationships/hyperlink" Target="https://en.wikipedia.org/wiki/Reversi" TargetMode="External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137124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reversi-admin-panel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3657960"/>
            <a:ext cx="9071280" cy="95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83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Автор: Анпилогов Дарий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83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  <a:p>
            <a:pPr indent="0" algn="ctr">
              <a:lnSpc>
                <a:spcPct val="83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25 сентября 2026 г.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Постановка задачи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371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Хотим администрировать процесс игры.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"/>
          <p:cNvSpPr/>
          <p:nvPr/>
        </p:nvSpPr>
        <p:spPr>
          <a:xfrm>
            <a:off x="914400" y="2972520"/>
            <a:ext cx="1371240" cy="1371960"/>
          </a:xfrm>
          <a:prstGeom prst="ellipse">
            <a:avLst/>
          </a:prstGeom>
          <a:solidFill>
            <a:schemeClr val="accent1"/>
          </a:solidFill>
          <a:ln w="38160">
            <a:solidFill>
              <a:srgbClr val="3465A4">
                <a:lumMod val="75000"/>
                <a:lumOff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Админ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7" name=""/>
          <p:cNvSpPr/>
          <p:nvPr/>
        </p:nvSpPr>
        <p:spPr>
          <a:xfrm>
            <a:off x="2743920" y="2514600"/>
            <a:ext cx="685440" cy="2286360"/>
          </a:xfrm>
          <a:custGeom>
            <a:avLst/>
            <a:gdLst>
              <a:gd name="textAreaLeft" fmla="*/ 33480 w 685440"/>
              <a:gd name="textAreaRight" fmla="*/ 652320 w 685440"/>
              <a:gd name="textAreaTop" fmla="*/ 33480 h 2286360"/>
              <a:gd name="textAreaBottom" fmla="*/ 2253240 h 2286360"/>
            </a:gdLst>
            <a:ahLst/>
            <a:cxnLst/>
            <a:rect l="textAreaLeft" t="textAreaTop" r="textAreaRight" b="textAreaBottom"/>
            <a:pathLst>
              <a:path w="21600" h="71996">
                <a:moveTo>
                  <a:pt x="3600" y="0"/>
                </a:moveTo>
                <a:arcTo wR="3600" hR="3600" stAng="16200000" swAng="-5400000"/>
                <a:lnTo>
                  <a:pt x="0" y="68396"/>
                </a:lnTo>
                <a:arcTo wR="3600" hR="3600" stAng="10800000" swAng="-5400000"/>
                <a:lnTo>
                  <a:pt x="18000" y="71996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chemeClr val="accent1"/>
          </a:solidFill>
          <a:ln w="38160">
            <a:solidFill>
              <a:srgbClr val="3465A4">
                <a:lumMod val="75000"/>
                <a:lumOff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UI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8" name=""/>
          <p:cNvSpPr/>
          <p:nvPr/>
        </p:nvSpPr>
        <p:spPr>
          <a:xfrm>
            <a:off x="4115520" y="2972520"/>
            <a:ext cx="1599840" cy="13719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60">
            <a:solidFill>
              <a:srgbClr val="3465A4">
                <a:lumMod val="75000"/>
                <a:lumOff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Валидация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9" name=""/>
          <p:cNvSpPr/>
          <p:nvPr/>
        </p:nvSpPr>
        <p:spPr>
          <a:xfrm>
            <a:off x="6630120" y="2514600"/>
            <a:ext cx="1829160" cy="182916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38160">
            <a:solidFill>
              <a:srgbClr val="3465A4">
                <a:lumMod val="75000"/>
                <a:lumOff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Хранение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20" name=""/>
          <p:cNvCxnSpPr>
            <a:stCxn id="17" idx="1"/>
            <a:endCxn id="16" idx="3"/>
          </p:cNvCxnSpPr>
          <p:nvPr/>
        </p:nvCxnSpPr>
        <p:spPr>
          <a:xfrm flipV="1" rot="10800000">
            <a:off x="1114560" y="3657600"/>
            <a:ext cx="1629360" cy="486360"/>
          </a:xfrm>
          <a:prstGeom prst="bentConnector4">
            <a:avLst>
              <a:gd name="adj1" fmla="val 14055"/>
              <a:gd name="adj2" fmla="val 141333"/>
            </a:avLst>
          </a:prstGeom>
          <a:ln w="38160">
            <a:solidFill>
              <a:srgbClr val="3465A4">
                <a:lumMod val="75000"/>
                <a:lumOff val="0"/>
              </a:srgbClr>
            </a:solidFill>
            <a:round/>
          </a:ln>
        </p:spPr>
      </p:cxnSp>
      <p:cxnSp>
        <p:nvCxnSpPr>
          <p:cNvPr id="21" name=""/>
          <p:cNvCxnSpPr>
            <a:stCxn id="18" idx="1"/>
            <a:endCxn id="17" idx="3"/>
          </p:cNvCxnSpPr>
          <p:nvPr/>
        </p:nvCxnSpPr>
        <p:spPr>
          <a:xfrm rot="10800000">
            <a:off x="3429360" y="3657240"/>
            <a:ext cx="686520" cy="1440"/>
          </a:xfrm>
          <a:prstGeom prst="bentConnector3">
            <a:avLst>
              <a:gd name="adj1" fmla="val 50000"/>
            </a:avLst>
          </a:prstGeom>
          <a:ln w="38160">
            <a:solidFill>
              <a:srgbClr val="3465A4">
                <a:lumMod val="75000"/>
                <a:lumOff val="0"/>
              </a:srgbClr>
            </a:solidFill>
            <a:round/>
          </a:ln>
        </p:spPr>
      </p:cxnSp>
      <p:cxnSp>
        <p:nvCxnSpPr>
          <p:cNvPr id="22" name=""/>
          <p:cNvCxnSpPr>
            <a:stCxn id="19" idx="2"/>
            <a:endCxn id="18" idx="3"/>
          </p:cNvCxnSpPr>
          <p:nvPr/>
        </p:nvCxnSpPr>
        <p:spPr>
          <a:xfrm flipV="1" rot="10800000">
            <a:off x="5715000" y="3657960"/>
            <a:ext cx="915120" cy="1080"/>
          </a:xfrm>
          <a:prstGeom prst="bentConnector3">
            <a:avLst>
              <a:gd name="adj1" fmla="val 49940"/>
            </a:avLst>
          </a:prstGeom>
          <a:ln w="38160">
            <a:solidFill>
              <a:srgbClr val="3465A4">
                <a:lumMod val="75000"/>
                <a:lumOff val="0"/>
              </a:srgbClr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2920" y="22824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Игра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5668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Реверси (“Отелло”)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 игрока – Б и Ч, первые ходят Ч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Поле 8 x 8 – Б, Ч и пустые клетки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Постановка фишки – переворот фишек противника по вертикали и/или диагонали, до своей. (хотя-бы 1 перевернуть надо)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Конец – отсутствие доступных ходов обоих игроков.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5" name=""/>
          <p:cNvPicPr/>
          <p:nvPr/>
        </p:nvPicPr>
        <p:blipFill>
          <a:blip r:embed="rId1"/>
          <a:stretch/>
        </p:blipFill>
        <p:spPr>
          <a:xfrm>
            <a:off x="6401520" y="1600200"/>
            <a:ext cx="3256560" cy="244008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Доменная область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7" name=""/>
          <p:cNvPicPr/>
          <p:nvPr/>
        </p:nvPicPr>
        <p:blipFill>
          <a:blip r:embed="rId1"/>
          <a:stretch/>
        </p:blipFill>
        <p:spPr>
          <a:xfrm>
            <a:off x="457200" y="2972520"/>
            <a:ext cx="9071280" cy="179676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28" name=""/>
          <p:cNvSpPr/>
          <p:nvPr/>
        </p:nvSpPr>
        <p:spPr>
          <a:xfrm>
            <a:off x="457200" y="1600200"/>
            <a:ext cx="9071280" cy="16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Поддерживаем инвариант корректности партии и её истории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Выделяем правила игры в отдельный класс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Хранение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0" name=""/>
          <p:cNvPicPr/>
          <p:nvPr/>
        </p:nvPicPr>
        <p:blipFill>
          <a:blip r:embed="rId1"/>
          <a:stretch/>
        </p:blipFill>
        <p:spPr>
          <a:xfrm>
            <a:off x="914400" y="914400"/>
            <a:ext cx="8029080" cy="41832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API приложения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371600"/>
            <a:ext cx="9071280" cy="91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Хотим единый и поддерживающий инвариант системы класс для администрирования на уровне приложения.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3" name=""/>
          <p:cNvPicPr/>
          <p:nvPr/>
        </p:nvPicPr>
        <p:blipFill>
          <a:blip r:embed="rId1"/>
          <a:stretch/>
        </p:blipFill>
        <p:spPr>
          <a:xfrm>
            <a:off x="228600" y="2514600"/>
            <a:ext cx="9486720" cy="265716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143000"/>
            <a:ext cx="907128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Хотим вводить короткие и простые команды для управления.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Не будем пытаться возпроизвести “GUI в терминале”.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6" name=""/>
          <p:cNvPicPr/>
          <p:nvPr/>
        </p:nvPicPr>
        <p:blipFill>
          <a:blip r:embed="rId1"/>
          <a:stretch/>
        </p:blipFill>
        <p:spPr>
          <a:xfrm>
            <a:off x="257040" y="2234520"/>
            <a:ext cx="9343800" cy="256572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8" name=""/>
          <p:cNvPicPr/>
          <p:nvPr/>
        </p:nvPicPr>
        <p:blipFill>
          <a:blip r:embed="rId1"/>
          <a:stretch/>
        </p:blipFill>
        <p:spPr>
          <a:xfrm>
            <a:off x="705960" y="1371600"/>
            <a:ext cx="3637080" cy="359928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39" name=""/>
          <p:cNvPicPr/>
          <p:nvPr/>
        </p:nvPicPr>
        <p:blipFill>
          <a:blip r:embed="rId2"/>
          <a:stretch/>
        </p:blipFill>
        <p:spPr>
          <a:xfrm>
            <a:off x="4800600" y="1371600"/>
            <a:ext cx="1922760" cy="320868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40" name=""/>
          <p:cNvPicPr/>
          <p:nvPr/>
        </p:nvPicPr>
        <p:blipFill>
          <a:blip r:embed="rId3"/>
          <a:stretch/>
        </p:blipFill>
        <p:spPr>
          <a:xfrm>
            <a:off x="7086600" y="1371600"/>
            <a:ext cx="2199240" cy="320868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GUI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5029920"/>
            <a:ext cx="9071280" cy="50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MVVM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43" name=""/>
          <p:cNvPicPr/>
          <p:nvPr/>
        </p:nvPicPr>
        <p:blipFill>
          <a:blip r:embed="rId1"/>
          <a:stretch/>
        </p:blipFill>
        <p:spPr>
          <a:xfrm>
            <a:off x="228600" y="1143000"/>
            <a:ext cx="9513720" cy="410868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GUI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228600" y="1600200"/>
            <a:ext cx="3657960" cy="388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Логическое деление на 3 части: игроки, текущая игра и игры.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46" name=""/>
          <p:cNvPicPr/>
          <p:nvPr/>
        </p:nvPicPr>
        <p:blipFill>
          <a:blip r:embed="rId1"/>
          <a:stretch/>
        </p:blipFill>
        <p:spPr>
          <a:xfrm>
            <a:off x="4344120" y="1371600"/>
            <a:ext cx="5359680" cy="377172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База данных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48" name=""/>
          <p:cNvPicPr/>
          <p:nvPr/>
        </p:nvPicPr>
        <p:blipFill>
          <a:blip r:embed="rId1"/>
          <a:stretch/>
        </p:blipFill>
        <p:spPr>
          <a:xfrm>
            <a:off x="457200" y="1828800"/>
            <a:ext cx="9463680" cy="202284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49" name=""/>
          <p:cNvPicPr/>
          <p:nvPr/>
        </p:nvPicPr>
        <p:blipFill>
          <a:blip r:embed="rId2"/>
          <a:stretch/>
        </p:blipFill>
        <p:spPr>
          <a:xfrm>
            <a:off x="457200" y="4115520"/>
            <a:ext cx="9373680" cy="86256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Тестирование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51" name=""/>
          <p:cNvPicPr/>
          <p:nvPr/>
        </p:nvPicPr>
        <p:blipFill>
          <a:blip r:embed="rId1"/>
          <a:stretch/>
        </p:blipFill>
        <p:spPr>
          <a:xfrm>
            <a:off x="3429720" y="2057400"/>
            <a:ext cx="2902320" cy="191988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52" name=""/>
          <p:cNvPicPr/>
          <p:nvPr/>
        </p:nvPicPr>
        <p:blipFill>
          <a:blip r:embed="rId2"/>
          <a:stretch/>
        </p:blipFill>
        <p:spPr>
          <a:xfrm>
            <a:off x="228600" y="2057400"/>
            <a:ext cx="2971440" cy="192564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53" name=""/>
          <p:cNvPicPr/>
          <p:nvPr/>
        </p:nvPicPr>
        <p:blipFill>
          <a:blip r:embed="rId3"/>
          <a:stretch/>
        </p:blipFill>
        <p:spPr>
          <a:xfrm>
            <a:off x="6630120" y="2057400"/>
            <a:ext cx="2993760" cy="191412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54" name=""/>
          <p:cNvSpPr/>
          <p:nvPr/>
        </p:nvSpPr>
        <p:spPr>
          <a:xfrm>
            <a:off x="457200" y="4344120"/>
            <a:ext cx="9030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86 тестов – 86 успешно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83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Ссылки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264600" y="16362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60FF"/>
                </a:solidFill>
                <a:effectLst/>
                <a:uFillTx/>
                <a:latin typeface="Calibri"/>
                <a:hlinkClick r:id="rId1"/>
              </a:rPr>
              <a:t>https://github.com/GidRadium/reversi-admin-panel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60FF"/>
                </a:solidFill>
                <a:effectLst/>
                <a:uFillTx/>
                <a:latin typeface="Calibri"/>
                <a:hlinkClick r:id="rId2"/>
              </a:rPr>
              <a:t>https://en.wikipedia.org/wiki/Reversi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Classic">
      <a:dk1>
        <a:srgbClr val="000000"/>
      </a:dk1>
      <a:lt1>
        <a:srgbClr val="FFFFFF"/>
      </a:lt1>
      <a:dk2>
        <a:srgbClr val="2E2706"/>
      </a:dk2>
      <a:lt2>
        <a:srgbClr val="EEEEEE"/>
      </a:lt2>
      <a:accent1>
        <a:srgbClr val="3465A4"/>
      </a:accent1>
      <a:accent2>
        <a:srgbClr val="168253"/>
      </a:accent2>
      <a:accent3>
        <a:srgbClr val="D62E4E"/>
      </a:accent3>
      <a:accent4>
        <a:srgbClr val="729FCF"/>
      </a:accent4>
      <a:accent5>
        <a:srgbClr val="5EB91E"/>
      </a:accent5>
      <a:accent6>
        <a:srgbClr val="EA7500"/>
      </a:accent6>
      <a:hlink>
        <a:srgbClr val="0060FF"/>
      </a:hlink>
      <a:folHlink>
        <a:srgbClr val="8020D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Collabora_Office/26.04.2.1$Linux_X86_64 LibreOffice_project/de013a57f9dd43658ce09b01cc34cbfa82f81afd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2026-09-24T20:09:51Z</dcterms:created>
  <dc:creator/>
  <dc:description/>
  <dc:language>en-US</dc:language>
  <cp:lastModifiedBy/>
  <dcterms:modified xsi:type="dcterms:W3CDTF">2026-09-24T22:33:16Z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